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4"/>
  </p:notesMasterIdLst>
  <p:handoutMasterIdLst>
    <p:handoutMasterId r:id="rId15"/>
  </p:handoutMasterIdLst>
  <p:sldIdLst>
    <p:sldId id="410" r:id="rId5"/>
    <p:sldId id="383" r:id="rId6"/>
    <p:sldId id="389" r:id="rId7"/>
    <p:sldId id="391" r:id="rId8"/>
    <p:sldId id="408" r:id="rId9"/>
    <p:sldId id="404" r:id="rId10"/>
    <p:sldId id="403" r:id="rId11"/>
    <p:sldId id="411" r:id="rId12"/>
    <p:sldId id="41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8A49CC-B3F7-2A34-5189-C960C49E3854}" v="216" dt="2025-06-24T12:04:36.563"/>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15" autoAdjust="0"/>
    <p:restoredTop sz="96327" autoAdjust="0"/>
  </p:normalViewPr>
  <p:slideViewPr>
    <p:cSldViewPr snapToGrid="0">
      <p:cViewPr varScale="1">
        <p:scale>
          <a:sx n="69" d="100"/>
          <a:sy n="69" d="100"/>
        </p:scale>
        <p:origin x="450"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dirty="0">
                <a:solidFill>
                  <a:schemeClr val="tx1"/>
                </a:solidFill>
              </a:rPr>
              <a:t>Mental Health Impact by Percentage</a:t>
            </a:r>
          </a:p>
        </c:rich>
      </c:tx>
      <c:layout>
        <c:manualLayout>
          <c:xMode val="edge"/>
          <c:yMode val="edge"/>
          <c:x val="0.26848063875821437"/>
          <c:y val="0"/>
        </c:manualLayout>
      </c:layout>
      <c:overlay val="0"/>
      <c:spPr>
        <a:solidFill>
          <a:schemeClr val="bg1"/>
        </a:solidFill>
        <a:ln>
          <a:solidFill>
            <a:schemeClr val="bg1"/>
          </a:solidFill>
        </a:ln>
        <a:effectLst/>
      </c:spPr>
    </c:title>
    <c:autoTitleDeleted val="0"/>
    <c:plotArea>
      <c:layout>
        <c:manualLayout>
          <c:layoutTarget val="inner"/>
          <c:xMode val="edge"/>
          <c:yMode val="edge"/>
          <c:x val="7.0013530006175592E-2"/>
          <c:y val="0.13968252080888258"/>
          <c:w val="0.91360032467323027"/>
          <c:h val="0.77431148480609047"/>
        </c:manualLayout>
      </c:layout>
      <c:barChart>
        <c:barDir val="col"/>
        <c:grouping val="clustered"/>
        <c:varyColors val="1"/>
        <c:ser>
          <c:idx val="0"/>
          <c:order val="0"/>
          <c:tx>
            <c:strRef>
              <c:f>Sheet1!$B$1</c:f>
              <c:strCache>
                <c:ptCount val="1"/>
                <c:pt idx="0">
                  <c:v>Affected Students (%)</c:v>
                </c:pt>
              </c:strCache>
            </c:strRef>
          </c:tx>
          <c:invertIfNegative val="1"/>
          <c:dPt>
            <c:idx val="0"/>
            <c:invertIfNegative val="1"/>
            <c:bubble3D val="0"/>
            <c:spPr>
              <a:solidFill>
                <a:schemeClr val="accent1"/>
              </a:solidFill>
              <a:ln>
                <a:noFill/>
              </a:ln>
              <a:effectLst/>
            </c:spPr>
            <c:extLst>
              <c:ext xmlns:c16="http://schemas.microsoft.com/office/drawing/2014/chart" uri="{C3380CC4-5D6E-409C-BE32-E72D297353CC}">
                <c16:uniqueId val="{00000001-FAD0-4B8A-8B00-3B8916598DAA}"/>
              </c:ext>
            </c:extLst>
          </c:dPt>
          <c:dPt>
            <c:idx val="1"/>
            <c:invertIfNegative val="1"/>
            <c:bubble3D val="0"/>
            <c:spPr>
              <a:solidFill>
                <a:schemeClr val="accent2"/>
              </a:solidFill>
              <a:ln>
                <a:noFill/>
              </a:ln>
              <a:effectLst/>
            </c:spPr>
            <c:extLst>
              <c:ext xmlns:c16="http://schemas.microsoft.com/office/drawing/2014/chart" uri="{C3380CC4-5D6E-409C-BE32-E72D297353CC}">
                <c16:uniqueId val="{00000003-FAD0-4B8A-8B00-3B8916598DAA}"/>
              </c:ext>
            </c:extLst>
          </c:dPt>
          <c:dPt>
            <c:idx val="2"/>
            <c:invertIfNegative val="1"/>
            <c:bubble3D val="0"/>
            <c:spPr>
              <a:solidFill>
                <a:schemeClr val="accent3"/>
              </a:solidFill>
              <a:ln>
                <a:noFill/>
              </a:ln>
              <a:effectLst/>
            </c:spPr>
            <c:extLst>
              <c:ext xmlns:c16="http://schemas.microsoft.com/office/drawing/2014/chart" uri="{C3380CC4-5D6E-409C-BE32-E72D297353CC}">
                <c16:uniqueId val="{00000005-FAD0-4B8A-8B00-3B8916598DAA}"/>
              </c:ext>
            </c:extLst>
          </c:dPt>
          <c:dPt>
            <c:idx val="3"/>
            <c:invertIfNegative val="1"/>
            <c:bubble3D val="0"/>
            <c:spPr>
              <a:solidFill>
                <a:schemeClr val="accent4"/>
              </a:solidFill>
              <a:ln>
                <a:noFill/>
              </a:ln>
              <a:effectLst/>
            </c:spPr>
            <c:extLst>
              <c:ext xmlns:c16="http://schemas.microsoft.com/office/drawing/2014/chart" uri="{C3380CC4-5D6E-409C-BE32-E72D297353CC}">
                <c16:uniqueId val="{00000007-FAD0-4B8A-8B00-3B8916598DAA}"/>
              </c:ext>
            </c:extLst>
          </c:dPt>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Anxiety</c:v>
                </c:pt>
                <c:pt idx="1">
                  <c:v>Low Self-Esteem</c:v>
                </c:pt>
                <c:pt idx="2">
                  <c:v>Sleep Problems</c:v>
                </c:pt>
                <c:pt idx="3">
                  <c:v>Depression</c:v>
                </c:pt>
              </c:strCache>
            </c:strRef>
          </c:cat>
          <c:val>
            <c:numRef>
              <c:f>Sheet1!$B$2:$B$5</c:f>
              <c:numCache>
                <c:formatCode>General</c:formatCode>
                <c:ptCount val="4"/>
                <c:pt idx="0">
                  <c:v>41</c:v>
                </c:pt>
                <c:pt idx="1">
                  <c:v>36</c:v>
                </c:pt>
                <c:pt idx="2">
                  <c:v>52</c:v>
                </c:pt>
                <c:pt idx="3">
                  <c:v>28</c:v>
                </c:pt>
              </c:numCache>
            </c:numRef>
          </c:val>
          <c:extLst>
            <c:ext xmlns:c16="http://schemas.microsoft.com/office/drawing/2014/chart" uri="{C3380CC4-5D6E-409C-BE32-E72D297353CC}">
              <c16:uniqueId val="{00000000-4B4D-4B89-9CD2-64BFC23EDEE5}"/>
            </c:ext>
          </c:extLst>
        </c:ser>
        <c:dLbls>
          <c:dLblPos val="outEnd"/>
          <c:showLegendKey val="0"/>
          <c:showVal val="1"/>
          <c:showCatName val="0"/>
          <c:showSerName val="0"/>
          <c:showPercent val="0"/>
          <c:showBubbleSize val="0"/>
        </c:dLbls>
        <c:gapWidth val="444"/>
        <c:overlap val="-90"/>
        <c:axId val="-2068027336"/>
        <c:axId val="-2113994440"/>
      </c:barChart>
      <c:catAx>
        <c:axId val="-20680273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none"/>
        <c:minorTickMark val="none"/>
        <c:tickLblPos val="nextTo"/>
        <c:crossAx val="-2068027336"/>
        <c:crosses val="autoZero"/>
        <c:crossBetween val="between"/>
      </c:valAx>
      <c:spPr>
        <a:noFill/>
        <a:ln>
          <a:noFill/>
        </a:ln>
        <a:effectLst/>
      </c:spPr>
    </c:plotArea>
    <c:plotVisOnly val="1"/>
    <c:dispBlanksAs val="gap"/>
    <c:showDLblsOverMax val="1"/>
  </c:chart>
  <c:spPr>
    <a:solidFill>
      <a:schemeClr val="bg1"/>
    </a:solid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6/25/2025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514488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B637-3A68-DE88-B07E-E4A931688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5C1F3-8686-6820-B0A2-99ACDDFEF9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13702D-7830-485E-D168-8B5809E881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ACF56A-A8D9-D131-196B-3E16CAE21FC8}"/>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3077068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dirty="0"/>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dirty="0"/>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dirty="0"/>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dirty="0"/>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paper icons from strings&#10;&#10;AI-generated content may be incorrect.">
            <a:extLst>
              <a:ext uri="{FF2B5EF4-FFF2-40B4-BE49-F238E27FC236}">
                <a16:creationId xmlns:a16="http://schemas.microsoft.com/office/drawing/2014/main" id="{2019210D-D88C-C830-D571-E8C10FDCC99B}"/>
              </a:ext>
            </a:extLst>
          </p:cNvPr>
          <p:cNvPicPr>
            <a:picLocks noChangeAspect="1"/>
          </p:cNvPicPr>
          <p:nvPr/>
        </p:nvPicPr>
        <p:blipFill>
          <a:blip r:embed="rId3">
            <a:alphaModFix amt="17000"/>
          </a:blip>
          <a:stretch>
            <a:fillRect/>
          </a:stretch>
        </p:blipFill>
        <p:spPr>
          <a:xfrm>
            <a:off x="4695645" y="-898"/>
            <a:ext cx="7372709" cy="6859797"/>
          </a:xfrm>
          <a:prstGeom prst="rect">
            <a:avLst/>
          </a:prstGeom>
        </p:spPr>
      </p:pic>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238018" y="325215"/>
            <a:ext cx="5960853" cy="3421236"/>
          </a:xfrm>
        </p:spPr>
        <p:txBody>
          <a:bodyPr/>
          <a:lstStyle/>
          <a:p>
            <a:r>
              <a:rPr lang="en-US" sz="7200" dirty="0"/>
              <a:t>Student Social Media Addiction</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491497"/>
            <a:ext cx="6241408" cy="1521621"/>
          </a:xfrm>
        </p:spPr>
        <p:txBody>
          <a:bodyPr/>
          <a:lstStyle/>
          <a:p>
            <a:r>
              <a:rPr lang="en-US" sz="2400" dirty="0"/>
              <a:t>Why </a:t>
            </a:r>
            <a:r>
              <a:rPr lang="en-US" sz="2400" dirty="0" err="1"/>
              <a:t>Analyse</a:t>
            </a:r>
            <a:r>
              <a:rPr lang="en-US" sz="2400" dirty="0"/>
              <a:t> On Student Social Media Addiction</a:t>
            </a:r>
            <a:endParaRPr lang="en-US" dirty="0"/>
          </a:p>
        </p:txBody>
      </p:sp>
      <p:sp>
        <p:nvSpPr>
          <p:cNvPr id="5" name="Content Placeholder 4">
            <a:extLst>
              <a:ext uri="{FF2B5EF4-FFF2-40B4-BE49-F238E27FC236}">
                <a16:creationId xmlns:a16="http://schemas.microsoft.com/office/drawing/2014/main" id="{009C8C22-B6A3-1EDD-F791-C6DD7AA19B23}"/>
              </a:ext>
            </a:extLst>
          </p:cNvPr>
          <p:cNvSpPr>
            <a:spLocks noGrp="1"/>
          </p:cNvSpPr>
          <p:nvPr>
            <p:ph sz="quarter" idx="13"/>
          </p:nvPr>
        </p:nvSpPr>
        <p:spPr>
          <a:xfrm>
            <a:off x="594359" y="2281918"/>
            <a:ext cx="6787747" cy="1596985"/>
          </a:xfrm>
        </p:spPr>
        <p:txBody>
          <a:bodyPr vert="horz" lIns="0" tIns="228600" rIns="0" bIns="0" rtlCol="0" anchor="t">
            <a:normAutofit/>
          </a:bodyPr>
          <a:lstStyle/>
          <a:p>
            <a:pPr marL="283210" indent="-283210"/>
            <a:r>
              <a:rPr lang="en-US" sz="1800" b="0" dirty="0">
                <a:solidFill>
                  <a:schemeClr val="bg1"/>
                </a:solidFill>
                <a:ea typeface="+mn-lt"/>
                <a:cs typeface="+mn-lt"/>
              </a:rPr>
              <a:t>Mental Health Impact of students</a:t>
            </a:r>
          </a:p>
          <a:p>
            <a:pPr marL="283210" indent="-283210"/>
            <a:r>
              <a:rPr lang="en-US" sz="1800" b="0" dirty="0">
                <a:solidFill>
                  <a:schemeClr val="bg1"/>
                </a:solidFill>
                <a:ea typeface="+mn-lt"/>
                <a:cs typeface="+mn-lt"/>
              </a:rPr>
              <a:t>Loss of Valuable Time of students</a:t>
            </a:r>
          </a:p>
          <a:p>
            <a:pPr marL="283210" indent="-283210"/>
            <a:r>
              <a:rPr lang="en-US" sz="1800" b="0" dirty="0">
                <a:solidFill>
                  <a:schemeClr val="bg1"/>
                </a:solidFill>
                <a:ea typeface="+mn-lt"/>
                <a:cs typeface="+mn-lt"/>
              </a:rPr>
              <a:t>Reduced Physical Activity</a:t>
            </a:r>
          </a:p>
        </p:txBody>
      </p:sp>
      <p:sp>
        <p:nvSpPr>
          <p:cNvPr id="8" name="TextBox 7">
            <a:extLst>
              <a:ext uri="{FF2B5EF4-FFF2-40B4-BE49-F238E27FC236}">
                <a16:creationId xmlns:a16="http://schemas.microsoft.com/office/drawing/2014/main" id="{289DCAD0-6A03-3012-F5F7-DE4144279382}"/>
              </a:ext>
            </a:extLst>
          </p:cNvPr>
          <p:cNvSpPr txBox="1"/>
          <p:nvPr/>
        </p:nvSpPr>
        <p:spPr>
          <a:xfrm>
            <a:off x="597981" y="4135397"/>
            <a:ext cx="40828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W</a:t>
            </a:r>
          </a:p>
        </p:txBody>
      </p:sp>
      <p:sp>
        <p:nvSpPr>
          <p:cNvPr id="4" name="Title 1">
            <a:extLst>
              <a:ext uri="{FF2B5EF4-FFF2-40B4-BE49-F238E27FC236}">
                <a16:creationId xmlns:a16="http://schemas.microsoft.com/office/drawing/2014/main" id="{E45F07A8-6EC2-24E1-A9C9-BC3E7E254BC4}"/>
              </a:ext>
            </a:extLst>
          </p:cNvPr>
          <p:cNvSpPr txBox="1">
            <a:spLocks/>
          </p:cNvSpPr>
          <p:nvPr/>
        </p:nvSpPr>
        <p:spPr>
          <a:xfrm>
            <a:off x="594359" y="3878903"/>
            <a:ext cx="6241408" cy="760810"/>
          </a:xfrm>
          <a:prstGeom prst="rect">
            <a:avLst/>
          </a:prstGeom>
        </p:spPr>
        <p:txBody>
          <a:bodyPr vert="horz" lIns="0" tIns="0" rIns="0" bIns="0" rtlCol="0" anchor="b" anchorCtr="0">
            <a:noAutofit/>
          </a:bodyPr>
          <a:lstStyle>
            <a:lvl1pPr algn="l" defTabSz="914400" rtl="0" eaLnBrk="1" latinLnBrk="0" hangingPunct="1">
              <a:lnSpc>
                <a:spcPct val="80000"/>
              </a:lnSpc>
              <a:spcBef>
                <a:spcPct val="0"/>
              </a:spcBef>
              <a:buNone/>
              <a:defRPr sz="4400" b="1" i="0" kern="1200" spc="5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t>Why Choose this for study</a:t>
            </a:r>
            <a:endParaRPr lang="en-US" dirty="0"/>
          </a:p>
        </p:txBody>
      </p:sp>
      <p:cxnSp>
        <p:nvCxnSpPr>
          <p:cNvPr id="9" name="Straight Connector 8">
            <a:extLst>
              <a:ext uri="{FF2B5EF4-FFF2-40B4-BE49-F238E27FC236}">
                <a16:creationId xmlns:a16="http://schemas.microsoft.com/office/drawing/2014/main" id="{6457CBD6-3076-16E2-FF7E-31194AE8DB87}"/>
              </a:ext>
            </a:extLst>
          </p:cNvPr>
          <p:cNvCxnSpPr/>
          <p:nvPr/>
        </p:nvCxnSpPr>
        <p:spPr>
          <a:xfrm>
            <a:off x="594359" y="4752107"/>
            <a:ext cx="2121132" cy="0"/>
          </a:xfrm>
          <a:prstGeom prst="line">
            <a:avLst/>
          </a:prstGeom>
          <a:ln w="952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Content Placeholder 4">
            <a:extLst>
              <a:ext uri="{FF2B5EF4-FFF2-40B4-BE49-F238E27FC236}">
                <a16:creationId xmlns:a16="http://schemas.microsoft.com/office/drawing/2014/main" id="{A281162F-41A4-6A15-A996-8A72E8665F66}"/>
              </a:ext>
            </a:extLst>
          </p:cNvPr>
          <p:cNvSpPr txBox="1">
            <a:spLocks/>
          </p:cNvSpPr>
          <p:nvPr/>
        </p:nvSpPr>
        <p:spPr>
          <a:xfrm>
            <a:off x="587098" y="4988833"/>
            <a:ext cx="6787747" cy="1596985"/>
          </a:xfrm>
          <a:prstGeom prst="rect">
            <a:avLst/>
          </a:prstGeom>
        </p:spPr>
        <p:txBody>
          <a:bodyPr vert="horz" lIns="0" tIns="228600" rIns="0" bIns="0" rtlCol="0" anchor="t">
            <a:normAutofit/>
          </a:bodyPr>
          <a:lstStyle>
            <a:lvl1pPr marL="283464" indent="-283464" algn="l" defTabSz="914400" rtl="0" eaLnBrk="1" latinLnBrk="0" hangingPunct="1">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marL="685800" indent="-283464" algn="l" defTabSz="914400" rtl="0" eaLnBrk="1" latinLnBrk="0" hangingPunct="1">
              <a:lnSpc>
                <a:spcPct val="90000"/>
              </a:lnSpc>
              <a:spcBef>
                <a:spcPts val="6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3210" indent="-283210"/>
            <a:r>
              <a:rPr lang="en-US" sz="1800" b="0" dirty="0">
                <a:solidFill>
                  <a:schemeClr val="bg1"/>
                </a:solidFill>
                <a:ea typeface="+mn-lt"/>
                <a:cs typeface="+mn-lt"/>
              </a:rPr>
              <a:t>Shows data of social media effects by </a:t>
            </a:r>
            <a:r>
              <a:rPr lang="en-US" sz="1800" dirty="0">
                <a:solidFill>
                  <a:schemeClr val="bg1"/>
                </a:solidFill>
                <a:ea typeface="+mn-lt"/>
                <a:cs typeface="+mn-lt"/>
              </a:rPr>
              <a:t>SQL</a:t>
            </a:r>
            <a:r>
              <a:rPr lang="en-US" sz="1800" b="0" dirty="0">
                <a:solidFill>
                  <a:schemeClr val="bg1"/>
                </a:solidFill>
                <a:ea typeface="+mn-lt"/>
                <a:cs typeface="+mn-lt"/>
              </a:rPr>
              <a:t> query </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social media&#10;&#10;AI-generated content may be incorrect.">
            <a:extLst>
              <a:ext uri="{FF2B5EF4-FFF2-40B4-BE49-F238E27FC236}">
                <a16:creationId xmlns:a16="http://schemas.microsoft.com/office/drawing/2014/main" id="{905AA80A-41CA-4279-C699-453ABB210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81890"/>
            <a:ext cx="12075886" cy="6276110"/>
          </a:xfrm>
          <a:prstGeom prst="rect">
            <a:avLst/>
          </a:prstGeom>
        </p:spPr>
      </p:pic>
      <p:sp>
        <p:nvSpPr>
          <p:cNvPr id="13" name="Rectangle 12">
            <a:extLst>
              <a:ext uri="{FF2B5EF4-FFF2-40B4-BE49-F238E27FC236}">
                <a16:creationId xmlns:a16="http://schemas.microsoft.com/office/drawing/2014/main" id="{FB0EEB31-4103-0C3A-AFA9-746A66AAEC21}"/>
              </a:ext>
            </a:extLst>
          </p:cNvPr>
          <p:cNvSpPr/>
          <p:nvPr/>
        </p:nvSpPr>
        <p:spPr>
          <a:xfrm>
            <a:off x="0" y="0"/>
            <a:ext cx="4502727" cy="37407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0395684-7E57-26BC-087C-C31056B89B3C}"/>
              </a:ext>
            </a:extLst>
          </p:cNvPr>
          <p:cNvSpPr/>
          <p:nvPr/>
        </p:nvSpPr>
        <p:spPr>
          <a:xfrm>
            <a:off x="5043055" y="-1"/>
            <a:ext cx="2992582" cy="58189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BA66369-EDBD-53D0-ABB4-42FD071B215C}"/>
              </a:ext>
            </a:extLst>
          </p:cNvPr>
          <p:cNvSpPr/>
          <p:nvPr/>
        </p:nvSpPr>
        <p:spPr>
          <a:xfrm>
            <a:off x="9933708" y="0"/>
            <a:ext cx="2258291" cy="3740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4087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255277"/>
            <a:ext cx="10873740" cy="1680205"/>
          </a:xfrm>
        </p:spPr>
        <p:txBody>
          <a:bodyPr/>
          <a:lstStyle/>
          <a:p>
            <a:r>
              <a:rPr lang="en-US" sz="4000" dirty="0"/>
              <a:t>Data of </a:t>
            </a:r>
            <a:br>
              <a:rPr lang="en-US" sz="4000" dirty="0"/>
            </a:br>
            <a:r>
              <a:rPr lang="en-US" sz="4000" dirty="0"/>
              <a:t>Social Media Effects </a:t>
            </a:r>
            <a:br>
              <a:rPr lang="en-US" sz="4000" dirty="0"/>
            </a:br>
            <a:r>
              <a:rPr lang="en-US" sz="4000" dirty="0"/>
              <a:t>On Student</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7024254" y="2049901"/>
            <a:ext cx="4443845" cy="3700462"/>
          </a:xfrm>
        </p:spPr>
        <p:txBody>
          <a:bodyPr>
            <a:normAutofit/>
          </a:bodyPr>
          <a:lstStyle/>
          <a:p>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2" name="TextBox 1">
            <a:extLst>
              <a:ext uri="{FF2B5EF4-FFF2-40B4-BE49-F238E27FC236}">
                <a16:creationId xmlns:a16="http://schemas.microsoft.com/office/drawing/2014/main" id="{8FD63FB7-3C92-EC7B-A7AE-B1D47F23A66E}"/>
              </a:ext>
            </a:extLst>
          </p:cNvPr>
          <p:cNvSpPr txBox="1"/>
          <p:nvPr/>
        </p:nvSpPr>
        <p:spPr>
          <a:xfrm>
            <a:off x="484177" y="2251761"/>
            <a:ext cx="10972800" cy="914400"/>
          </a:xfrm>
          <a:prstGeom prst="rect">
            <a:avLst/>
          </a:prstGeom>
          <a:noFill/>
        </p:spPr>
        <p:txBody>
          <a:bodyPr wrap="none">
            <a:spAutoFit/>
          </a:bodyPr>
          <a:lstStyle/>
          <a:p>
            <a:pPr>
              <a:defRPr sz="3200" b="1">
                <a:solidFill>
                  <a:srgbClr val="000000"/>
                </a:solidFill>
              </a:defRPr>
            </a:pPr>
            <a:r>
              <a:rPr dirty="0"/>
              <a:t>Graph: Effects of Social Media on Students (Mental Health)</a:t>
            </a:r>
          </a:p>
        </p:txBody>
      </p:sp>
      <p:graphicFrame>
        <p:nvGraphicFramePr>
          <p:cNvPr id="8" name="Chart 7">
            <a:extLst>
              <a:ext uri="{FF2B5EF4-FFF2-40B4-BE49-F238E27FC236}">
                <a16:creationId xmlns:a16="http://schemas.microsoft.com/office/drawing/2014/main" id="{41351CFA-D7A7-8AE4-11BF-31422B4E3389}"/>
              </a:ext>
            </a:extLst>
          </p:cNvPr>
          <p:cNvGraphicFramePr>
            <a:graphicFrameLocks noGrp="1"/>
          </p:cNvGraphicFramePr>
          <p:nvPr>
            <p:extLst>
              <p:ext uri="{D42A27DB-BD31-4B8C-83A1-F6EECF244321}">
                <p14:modId xmlns:p14="http://schemas.microsoft.com/office/powerpoint/2010/main" val="3043513720"/>
              </p:ext>
            </p:extLst>
          </p:nvPr>
        </p:nvGraphicFramePr>
        <p:xfrm>
          <a:off x="2959226" y="2815198"/>
          <a:ext cx="8149812" cy="37004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sz="3200" dirty="0"/>
              <a:t>Find the average sleep hours for students grouped by their level of social media addiction.</a:t>
            </a:r>
          </a:p>
        </p:txBody>
      </p:sp>
      <p:sp>
        <p:nvSpPr>
          <p:cNvPr id="9" name="TextBox 8">
            <a:extLst>
              <a:ext uri="{FF2B5EF4-FFF2-40B4-BE49-F238E27FC236}">
                <a16:creationId xmlns:a16="http://schemas.microsoft.com/office/drawing/2014/main" id="{A9AD3356-2BC4-EA93-68EF-F01E1919CF64}"/>
              </a:ext>
            </a:extLst>
          </p:cNvPr>
          <p:cNvSpPr txBox="1"/>
          <p:nvPr/>
        </p:nvSpPr>
        <p:spPr>
          <a:xfrm>
            <a:off x="594360" y="2660073"/>
            <a:ext cx="3257204" cy="3366654"/>
          </a:xfrm>
          <a:prstGeom prst="rect">
            <a:avLst/>
          </a:prstGeom>
          <a:noFill/>
        </p:spPr>
        <p:txBody>
          <a:bodyPr wrap="square" rtlCol="0">
            <a:spAutoFit/>
          </a:bodyPr>
          <a:lstStyle/>
          <a:p>
            <a:endParaRPr lang="en-US"/>
          </a:p>
        </p:txBody>
      </p:sp>
      <p:pic>
        <p:nvPicPr>
          <p:cNvPr id="6" name="Picture 5">
            <a:extLst>
              <a:ext uri="{FF2B5EF4-FFF2-40B4-BE49-F238E27FC236}">
                <a16:creationId xmlns:a16="http://schemas.microsoft.com/office/drawing/2014/main" id="{AEA11A88-8254-D1F3-9BA4-6D1A0B3F135E}"/>
              </a:ext>
            </a:extLst>
          </p:cNvPr>
          <p:cNvPicPr>
            <a:picLocks noChangeAspect="1"/>
          </p:cNvPicPr>
          <p:nvPr/>
        </p:nvPicPr>
        <p:blipFill>
          <a:blip r:embed="rId3"/>
          <a:srcRect l="19354" t="25837" r="21009" b="57638"/>
          <a:stretch>
            <a:fillRect/>
          </a:stretch>
        </p:blipFill>
        <p:spPr>
          <a:xfrm>
            <a:off x="442453" y="2296293"/>
            <a:ext cx="8863779" cy="1292029"/>
          </a:xfrm>
          <a:prstGeom prst="rect">
            <a:avLst/>
          </a:prstGeom>
        </p:spPr>
      </p:pic>
      <p:pic>
        <p:nvPicPr>
          <p:cNvPr id="8" name="Picture 7">
            <a:extLst>
              <a:ext uri="{FF2B5EF4-FFF2-40B4-BE49-F238E27FC236}">
                <a16:creationId xmlns:a16="http://schemas.microsoft.com/office/drawing/2014/main" id="{516AF356-8F90-3086-9461-7DBBBED431EC}"/>
              </a:ext>
            </a:extLst>
          </p:cNvPr>
          <p:cNvPicPr>
            <a:picLocks noChangeAspect="1"/>
          </p:cNvPicPr>
          <p:nvPr/>
        </p:nvPicPr>
        <p:blipFill>
          <a:blip r:embed="rId4"/>
          <a:srcRect l="16572" t="38783" r="68409" b="39413"/>
          <a:stretch>
            <a:fillRect/>
          </a:stretch>
        </p:blipFill>
        <p:spPr>
          <a:xfrm>
            <a:off x="303815" y="4419600"/>
            <a:ext cx="4077685" cy="2114550"/>
          </a:xfrm>
          <a:prstGeom prst="rect">
            <a:avLst/>
          </a:prstGeom>
        </p:spPr>
      </p:pic>
      <p:cxnSp>
        <p:nvCxnSpPr>
          <p:cNvPr id="3" name="Straight Connector 2">
            <a:extLst>
              <a:ext uri="{FF2B5EF4-FFF2-40B4-BE49-F238E27FC236}">
                <a16:creationId xmlns:a16="http://schemas.microsoft.com/office/drawing/2014/main" id="{D6899EFA-0F45-A323-63EC-79AB03DA7CA2}"/>
              </a:ext>
            </a:extLst>
          </p:cNvPr>
          <p:cNvCxnSpPr>
            <a:cxnSpLocks/>
          </p:cNvCxnSpPr>
          <p:nvPr/>
        </p:nvCxnSpPr>
        <p:spPr>
          <a:xfrm>
            <a:off x="303815" y="4003961"/>
            <a:ext cx="11443855" cy="0"/>
          </a:xfrm>
          <a:prstGeom prst="line">
            <a:avLst/>
          </a:prstGeom>
          <a:ln w="952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48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A799BD6-AECB-0555-66F3-A3714374A586}"/>
              </a:ext>
            </a:extLst>
          </p:cNvPr>
          <p:cNvSpPr txBox="1"/>
          <p:nvPr/>
        </p:nvSpPr>
        <p:spPr>
          <a:xfrm>
            <a:off x="360218" y="845128"/>
            <a:ext cx="9351818" cy="954107"/>
          </a:xfrm>
          <a:prstGeom prst="rect">
            <a:avLst/>
          </a:prstGeom>
          <a:noFill/>
        </p:spPr>
        <p:txBody>
          <a:bodyPr wrap="square" rtlCol="0">
            <a:spAutoFit/>
          </a:bodyPr>
          <a:lstStyle/>
          <a:p>
            <a:r>
              <a:rPr lang="en-US" sz="2800" b="1" dirty="0">
                <a:solidFill>
                  <a:schemeClr val="bg1"/>
                </a:solidFill>
              </a:rPr>
              <a:t>Find the average mental health score of students grouped by the social media platform they use.</a:t>
            </a:r>
          </a:p>
        </p:txBody>
      </p:sp>
      <p:pic>
        <p:nvPicPr>
          <p:cNvPr id="15" name="Picture 14">
            <a:extLst>
              <a:ext uri="{FF2B5EF4-FFF2-40B4-BE49-F238E27FC236}">
                <a16:creationId xmlns:a16="http://schemas.microsoft.com/office/drawing/2014/main" id="{75DDABA0-0DD0-B7FB-16D0-B2FE6C64E1C9}"/>
              </a:ext>
            </a:extLst>
          </p:cNvPr>
          <p:cNvPicPr>
            <a:picLocks noChangeAspect="1"/>
          </p:cNvPicPr>
          <p:nvPr/>
        </p:nvPicPr>
        <p:blipFill>
          <a:blip r:embed="rId3"/>
          <a:srcRect l="20114" t="23041" r="33523" b="56950"/>
          <a:stretch>
            <a:fillRect/>
          </a:stretch>
        </p:blipFill>
        <p:spPr>
          <a:xfrm>
            <a:off x="443345" y="2396837"/>
            <a:ext cx="6525491" cy="1551708"/>
          </a:xfrm>
          <a:prstGeom prst="rect">
            <a:avLst/>
          </a:prstGeom>
        </p:spPr>
      </p:pic>
      <p:pic>
        <p:nvPicPr>
          <p:cNvPr id="17" name="Picture 16">
            <a:extLst>
              <a:ext uri="{FF2B5EF4-FFF2-40B4-BE49-F238E27FC236}">
                <a16:creationId xmlns:a16="http://schemas.microsoft.com/office/drawing/2014/main" id="{D012B69D-4B62-CEA6-1729-3F5949A8F336}"/>
              </a:ext>
            </a:extLst>
          </p:cNvPr>
          <p:cNvPicPr>
            <a:picLocks noChangeAspect="1"/>
          </p:cNvPicPr>
          <p:nvPr/>
        </p:nvPicPr>
        <p:blipFill>
          <a:blip r:embed="rId4"/>
          <a:srcRect l="16705" t="44442" r="64318" b="24634"/>
          <a:stretch>
            <a:fillRect/>
          </a:stretch>
        </p:blipFill>
        <p:spPr>
          <a:xfrm>
            <a:off x="360218" y="4239491"/>
            <a:ext cx="4461164" cy="2521527"/>
          </a:xfrm>
          <a:prstGeom prst="rect">
            <a:avLst/>
          </a:prstGeom>
        </p:spPr>
      </p:pic>
      <p:cxnSp>
        <p:nvCxnSpPr>
          <p:cNvPr id="18" name="Straight Connector 17">
            <a:extLst>
              <a:ext uri="{FF2B5EF4-FFF2-40B4-BE49-F238E27FC236}">
                <a16:creationId xmlns:a16="http://schemas.microsoft.com/office/drawing/2014/main" id="{82D5FF18-C4F9-3EBC-7C08-F2778C83EBA9}"/>
              </a:ext>
            </a:extLst>
          </p:cNvPr>
          <p:cNvCxnSpPr>
            <a:cxnSpLocks/>
          </p:cNvCxnSpPr>
          <p:nvPr/>
        </p:nvCxnSpPr>
        <p:spPr>
          <a:xfrm>
            <a:off x="443345" y="4059379"/>
            <a:ext cx="11443855" cy="0"/>
          </a:xfrm>
          <a:prstGeom prst="line">
            <a:avLst/>
          </a:prstGeom>
          <a:ln w="952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768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375424"/>
          </a:xfrm>
        </p:spPr>
        <p:txBody>
          <a:bodyPr/>
          <a:lstStyle/>
          <a:p>
            <a:r>
              <a:rPr lang="en-US" sz="3200" dirty="0"/>
              <a:t>Countries where the average social media addiction level among students is higher than the global average.</a:t>
            </a:r>
          </a:p>
        </p:txBody>
      </p:sp>
      <p:pic>
        <p:nvPicPr>
          <p:cNvPr id="4" name="Picture 3">
            <a:extLst>
              <a:ext uri="{FF2B5EF4-FFF2-40B4-BE49-F238E27FC236}">
                <a16:creationId xmlns:a16="http://schemas.microsoft.com/office/drawing/2014/main" id="{AC00B3EB-CDDD-8DEA-A284-65996AB8BCAE}"/>
              </a:ext>
            </a:extLst>
          </p:cNvPr>
          <p:cNvPicPr>
            <a:picLocks noChangeAspect="1"/>
          </p:cNvPicPr>
          <p:nvPr/>
        </p:nvPicPr>
        <p:blipFill>
          <a:blip r:embed="rId3"/>
          <a:srcRect l="19205" t="20188" r="26023" b="57983"/>
          <a:stretch>
            <a:fillRect/>
          </a:stretch>
        </p:blipFill>
        <p:spPr>
          <a:xfrm>
            <a:off x="594360" y="2424546"/>
            <a:ext cx="6677891" cy="1496290"/>
          </a:xfrm>
          <a:prstGeom prst="rect">
            <a:avLst/>
          </a:prstGeom>
        </p:spPr>
      </p:pic>
      <p:cxnSp>
        <p:nvCxnSpPr>
          <p:cNvPr id="5" name="Straight Connector 4">
            <a:extLst>
              <a:ext uri="{FF2B5EF4-FFF2-40B4-BE49-F238E27FC236}">
                <a16:creationId xmlns:a16="http://schemas.microsoft.com/office/drawing/2014/main" id="{E830BF3B-E857-1E1B-AA19-D3CCE7956E1B}"/>
              </a:ext>
            </a:extLst>
          </p:cNvPr>
          <p:cNvCxnSpPr>
            <a:cxnSpLocks/>
          </p:cNvCxnSpPr>
          <p:nvPr/>
        </p:nvCxnSpPr>
        <p:spPr>
          <a:xfrm>
            <a:off x="443345" y="4197929"/>
            <a:ext cx="11443855" cy="0"/>
          </a:xfrm>
          <a:prstGeom prst="line">
            <a:avLst/>
          </a:prstGeom>
          <a:ln w="952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819B426-A438-EA18-65C1-4D4E9EC7935D}"/>
              </a:ext>
            </a:extLst>
          </p:cNvPr>
          <p:cNvPicPr>
            <a:picLocks noChangeAspect="1"/>
          </p:cNvPicPr>
          <p:nvPr/>
        </p:nvPicPr>
        <p:blipFill>
          <a:blip r:embed="rId4"/>
          <a:srcRect l="17045" t="51920" r="74205" b="32921"/>
          <a:stretch>
            <a:fillRect/>
          </a:stretch>
        </p:blipFill>
        <p:spPr>
          <a:xfrm>
            <a:off x="443345" y="4385953"/>
            <a:ext cx="2618509" cy="2362472"/>
          </a:xfrm>
          <a:prstGeom prst="rect">
            <a:avLst/>
          </a:prstGeom>
        </p:spPr>
      </p:pic>
    </p:spTree>
    <p:extLst>
      <p:ext uri="{BB962C8B-B14F-4D97-AF65-F5344CB8AC3E}">
        <p14:creationId xmlns:p14="http://schemas.microsoft.com/office/powerpoint/2010/main" val="752428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1397-4634-CCC0-A7FD-55CC478DE6E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7B4A1A2-8D12-53F3-837A-5EE151E91997}"/>
              </a:ext>
            </a:extLst>
          </p:cNvPr>
          <p:cNvSpPr txBox="1"/>
          <p:nvPr/>
        </p:nvSpPr>
        <p:spPr>
          <a:xfrm>
            <a:off x="526473" y="845124"/>
            <a:ext cx="9351818" cy="1200329"/>
          </a:xfrm>
          <a:prstGeom prst="rect">
            <a:avLst/>
          </a:prstGeom>
          <a:noFill/>
        </p:spPr>
        <p:txBody>
          <a:bodyPr wrap="square" rtlCol="0">
            <a:spAutoFit/>
          </a:bodyPr>
          <a:lstStyle/>
          <a:p>
            <a:r>
              <a:rPr lang="en-US" sz="3600" b="1" dirty="0">
                <a:solidFill>
                  <a:schemeClr val="bg1"/>
                </a:solidFill>
              </a:rPr>
              <a:t>Purpose of SQL Study on “Students’ Social Media Addiction”</a:t>
            </a:r>
          </a:p>
        </p:txBody>
      </p:sp>
      <p:sp>
        <p:nvSpPr>
          <p:cNvPr id="2" name="TextBox 1">
            <a:extLst>
              <a:ext uri="{FF2B5EF4-FFF2-40B4-BE49-F238E27FC236}">
                <a16:creationId xmlns:a16="http://schemas.microsoft.com/office/drawing/2014/main" id="{B7BB52D5-FDDE-5330-6298-8738F4FBB06F}"/>
              </a:ext>
            </a:extLst>
          </p:cNvPr>
          <p:cNvSpPr txBox="1"/>
          <p:nvPr/>
        </p:nvSpPr>
        <p:spPr>
          <a:xfrm>
            <a:off x="526473" y="2313710"/>
            <a:ext cx="9351818" cy="1631216"/>
          </a:xfrm>
          <a:prstGeom prst="rect">
            <a:avLst/>
          </a:prstGeom>
          <a:noFill/>
        </p:spPr>
        <p:txBody>
          <a:bodyPr wrap="square" rtlCol="0">
            <a:spAutoFit/>
          </a:bodyPr>
          <a:lstStyle/>
          <a:p>
            <a:r>
              <a:rPr lang="en-US" sz="2000" dirty="0">
                <a:solidFill>
                  <a:schemeClr val="bg1"/>
                </a:solidFill>
              </a:rPr>
              <a:t>The purpose of this case study is to analyze the impact of social media usage on students using structured data and advanced SQL queries. Through this case study, we aim to uncover patterns and correlations between social media habits and various factors such as academic performance, sleep hours, mental health, and addiction scores.</a:t>
            </a:r>
            <a:endParaRPr lang="en-US" sz="2000" b="1" dirty="0">
              <a:solidFill>
                <a:schemeClr val="bg1"/>
              </a:solidFill>
            </a:endParaRPr>
          </a:p>
        </p:txBody>
      </p:sp>
      <p:sp>
        <p:nvSpPr>
          <p:cNvPr id="3" name="TextBox 2">
            <a:extLst>
              <a:ext uri="{FF2B5EF4-FFF2-40B4-BE49-F238E27FC236}">
                <a16:creationId xmlns:a16="http://schemas.microsoft.com/office/drawing/2014/main" id="{E2DAF570-954D-CB42-B07A-31127A323A21}"/>
              </a:ext>
            </a:extLst>
          </p:cNvPr>
          <p:cNvSpPr txBox="1"/>
          <p:nvPr/>
        </p:nvSpPr>
        <p:spPr>
          <a:xfrm>
            <a:off x="401782" y="4132322"/>
            <a:ext cx="9351818" cy="461665"/>
          </a:xfrm>
          <a:prstGeom prst="rect">
            <a:avLst/>
          </a:prstGeom>
          <a:noFill/>
        </p:spPr>
        <p:txBody>
          <a:bodyPr wrap="square" rtlCol="0">
            <a:spAutoFit/>
          </a:bodyPr>
          <a:lstStyle/>
          <a:p>
            <a:r>
              <a:rPr lang="en-US" sz="2400" b="1" dirty="0">
                <a:solidFill>
                  <a:schemeClr val="bg1"/>
                </a:solidFill>
              </a:rPr>
              <a:t>Identify students at high risk of social media addiction.</a:t>
            </a:r>
          </a:p>
        </p:txBody>
      </p:sp>
      <p:sp>
        <p:nvSpPr>
          <p:cNvPr id="4" name="TextBox 3">
            <a:extLst>
              <a:ext uri="{FF2B5EF4-FFF2-40B4-BE49-F238E27FC236}">
                <a16:creationId xmlns:a16="http://schemas.microsoft.com/office/drawing/2014/main" id="{E1D736A0-ECE5-57B4-271D-293A2EFA39FD}"/>
              </a:ext>
            </a:extLst>
          </p:cNvPr>
          <p:cNvSpPr txBox="1"/>
          <p:nvPr/>
        </p:nvSpPr>
        <p:spPr>
          <a:xfrm>
            <a:off x="401780" y="4781383"/>
            <a:ext cx="9351818" cy="461665"/>
          </a:xfrm>
          <a:prstGeom prst="rect">
            <a:avLst/>
          </a:prstGeom>
          <a:noFill/>
        </p:spPr>
        <p:txBody>
          <a:bodyPr wrap="square" rtlCol="0">
            <a:spAutoFit/>
          </a:bodyPr>
          <a:lstStyle/>
          <a:p>
            <a:r>
              <a:rPr lang="en-US" sz="2400" b="1" dirty="0">
                <a:solidFill>
                  <a:schemeClr val="bg1"/>
                </a:solidFill>
              </a:rPr>
              <a:t>Compare mental health scores across platforms and usage habits.</a:t>
            </a:r>
          </a:p>
        </p:txBody>
      </p:sp>
    </p:spTree>
    <p:extLst>
      <p:ext uri="{BB962C8B-B14F-4D97-AF65-F5344CB8AC3E}">
        <p14:creationId xmlns:p14="http://schemas.microsoft.com/office/powerpoint/2010/main" val="2364560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text on a white background">
            <a:extLst>
              <a:ext uri="{FF2B5EF4-FFF2-40B4-BE49-F238E27FC236}">
                <a16:creationId xmlns:a16="http://schemas.microsoft.com/office/drawing/2014/main" id="{93E91675-E1DD-B056-DC0C-D21B98FE8E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243447364"/>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A8ECD1-788F-484B-9043-D957FCFDF1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0FE134-9032-4C7F-BC57-C7DE3F83336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36D24F1A-6251-4B9A-A918-7D6F3A8F7E2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224</TotalTime>
  <Words>215</Words>
  <Application>Microsoft Office PowerPoint</Application>
  <PresentationFormat>Widescreen</PresentationFormat>
  <Paragraphs>26</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Franklin Gothic Book</vt:lpstr>
      <vt:lpstr>Franklin Gothic Demi</vt:lpstr>
      <vt:lpstr>Custom</vt:lpstr>
      <vt:lpstr>Student Social Media Addiction</vt:lpstr>
      <vt:lpstr>Why Analyse On Student Social Media Addiction</vt:lpstr>
      <vt:lpstr>PowerPoint Presentation</vt:lpstr>
      <vt:lpstr>Data of  Social Media Effects  On Student</vt:lpstr>
      <vt:lpstr>Find the average sleep hours for students grouped by their level of social media addiction.</vt:lpstr>
      <vt:lpstr>PowerPoint Presentation</vt:lpstr>
      <vt:lpstr>Countries where the average social media addiction level among students is higher than the global average.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Saqib Khan</cp:lastModifiedBy>
  <cp:revision>91</cp:revision>
  <dcterms:created xsi:type="dcterms:W3CDTF">2025-06-24T11:40:59Z</dcterms:created>
  <dcterms:modified xsi:type="dcterms:W3CDTF">2025-06-25T13:58:26Z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